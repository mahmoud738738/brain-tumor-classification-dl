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Brain Tumor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2EE6D6"/>
                </a:solidFill>
                <a:latin typeface="Calibri"/>
              </a:rPr>
              <a:t>Deep Learning, Transfer Learning &amp; Grad-CAM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500" y="5124418"/>
            <a:ext cx="10515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i="1" dirty="0">
                <a:solidFill>
                  <a:srgbClr val="2EE6D6"/>
                </a:solidFill>
                <a:latin typeface="Calibri"/>
              </a:rPr>
              <a:t>ENG : </a:t>
            </a:r>
            <a:r>
              <a:rPr sz="1800" b="1" i="1" dirty="0">
                <a:solidFill>
                  <a:srgbClr val="2EE6D6"/>
                </a:solidFill>
                <a:latin typeface="Calibri"/>
              </a:rPr>
              <a:t>Mahmoud Khaled </a:t>
            </a:r>
            <a:r>
              <a:rPr sz="1800" b="1" i="1" dirty="0" err="1">
                <a:solidFill>
                  <a:srgbClr val="2EE6D6"/>
                </a:solidFill>
                <a:latin typeface="Calibri"/>
              </a:rPr>
              <a:t>Elsayed</a:t>
            </a:r>
            <a:r>
              <a:rPr sz="1800" b="1" i="1" dirty="0">
                <a:solidFill>
                  <a:srgbClr val="2EE6D6"/>
                </a:solidFill>
                <a:latin typeface="Calibri"/>
              </a:rPr>
              <a:t>  </a:t>
            </a:r>
            <a:r>
              <a:rPr lang="en-US" sz="1800" b="1" i="1" dirty="0" err="1">
                <a:solidFill>
                  <a:srgbClr val="2EE6D6"/>
                </a:solidFill>
                <a:latin typeface="Calibri"/>
              </a:rPr>
              <a:t>Nabawy</a:t>
            </a:r>
            <a:endParaRPr sz="1800" b="1" i="1" dirty="0">
              <a:solidFill>
                <a:srgbClr val="2EE6D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 / 19</a:t>
            </a:r>
          </a:p>
        </p:txBody>
      </p:sp>
      <p:pic>
        <p:nvPicPr>
          <p:cNvPr id="10" name="Neural Network Graphic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900000" y="-1100000"/>
            <a:ext cx="6200000" cy="6200000"/>
          </a:xfrm>
          <a:prstGeom prst="rect">
            <a:avLst/>
          </a:prstGeom>
        </p:spPr>
      </p:pic>
      <p:pic>
        <p:nvPicPr>
          <p:cNvPr id="95" name="Decorative Constellation Accent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-800000" y="3900000"/>
            <a:ext cx="3800000" cy="3800000"/>
          </a:xfrm>
          <a:prstGeom prst="rect">
            <a:avLst/>
          </a:prstGeom>
        </p:spPr>
      </p:pic>
      <p:pic>
        <p:nvPicPr>
          <p:cNvPr id="11" name="AI Robot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292608"/>
            <a:ext cx="548640" cy="548640"/>
          </a:xfrm>
          <a:prstGeom prst="rect">
            <a:avLst/>
          </a:prstGeom>
        </p:spPr>
      </p:pic>
      <p:pic>
        <p:nvPicPr>
          <p:cNvPr id="12" name="Big Robot Graph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000" y="900000"/>
            <a:ext cx="4044000" cy="520000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150000" y="5980000"/>
            <a:ext cx="637500" cy="85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750000" y="-7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Bottom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00000" y="45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Presentation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01  Dataset &amp; EDA  </a:t>
            </a:r>
            <a:r>
              <a:rPr sz="1700">
                <a:solidFill>
                  <a:srgbClr val="A9B4CE"/>
                </a:solidFill>
              </a:rPr>
              <a:t>3,264 MRI scans across 4 tumor classes.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02  Data Pipeline  </a:t>
            </a:r>
            <a:r>
              <a:rPr sz="1700">
                <a:solidFill>
                  <a:srgbClr val="A9B4CE"/>
                </a:solidFill>
              </a:rPr>
              <a:t>Pre-processing, augmentation &amp; stratified split.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03  Custom CNN Baseline  </a:t>
            </a:r>
            <a:r>
              <a:rPr sz="1700">
                <a:solidFill>
                  <a:srgbClr val="A9B4CE"/>
                </a:solidFill>
              </a:rPr>
              <a:t>Lightweight 4-block CNN built from scratch.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04  Transfer Learning  </a:t>
            </a:r>
            <a:r>
              <a:rPr sz="1700">
                <a:solidFill>
                  <a:srgbClr val="A9B4CE"/>
                </a:solidFill>
              </a:rPr>
              <a:t>MobileNetV2 fine-tuned for clinical accuracy.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05  Training &amp; Metrics  </a:t>
            </a:r>
            <a:r>
              <a:rPr sz="1700">
                <a:solidFill>
                  <a:srgbClr val="A9B4CE"/>
                </a:solidFill>
              </a:rPr>
              <a:t>Loss/accuracy curves, latency &amp; model size.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06  Clinical Evaluation  </a:t>
            </a:r>
            <a:r>
              <a:rPr sz="1700">
                <a:solidFill>
                  <a:srgbClr val="A9B4CE"/>
                </a:solidFill>
              </a:rPr>
              <a:t>Precision, recall &amp; confusion matrix analysis.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07  Explainability  </a:t>
            </a:r>
            <a:r>
              <a:rPr sz="1700">
                <a:solidFill>
                  <a:srgbClr val="A9B4CE"/>
                </a:solidFill>
              </a:rPr>
              <a:t>Grad-CAM heatmaps for lesion localization.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08  Conclusion  </a:t>
            </a:r>
            <a:r>
              <a:rPr sz="1700">
                <a:solidFill>
                  <a:srgbClr val="A9B4CE"/>
                </a:solidFill>
              </a:rPr>
              <a:t>Key takeaways &amp; clinical impact.</a:t>
            </a:r>
          </a:p>
        </p:txBody>
      </p:sp>
      <p:pic>
        <p:nvPicPr>
          <p:cNvPr id="8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900000" y="39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Top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750000" y="-7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Objective:  </a:t>
            </a:r>
            <a:r>
              <a:rPr sz="1700">
                <a:solidFill>
                  <a:srgbClr val="A9B4CE"/>
                </a:solidFill>
              </a:rPr>
              <a:t>Automate multi-class brain tumor detection from MRI scans using deep learning.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Dataset:  </a:t>
            </a:r>
            <a:r>
              <a:rPr sz="1700">
                <a:solidFill>
                  <a:srgbClr val="A9B4CE"/>
                </a:solidFill>
              </a:rPr>
              <a:t>3,264 T1-weighted MRI images (Glioma, Meningioma, Pituitary, No Tumor).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Approach:  </a:t>
            </a:r>
            <a:r>
              <a:rPr sz="1700">
                <a:solidFill>
                  <a:srgbClr val="A9B4CE"/>
                </a:solidFill>
              </a:rPr>
              <a:t>Compare a custom CNN baseline against a fine-tuned MobileNetV2.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Explainability:  </a:t>
            </a:r>
            <a:r>
              <a:rPr sz="1700">
                <a:solidFill>
                  <a:srgbClr val="A9B4CE"/>
                </a:solidFill>
              </a:rPr>
              <a:t>Apply Grad-CAM to visualize model attention on tumor regions.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Hardware:  </a:t>
            </a:r>
            <a:r>
              <a:rPr sz="1700">
                <a:solidFill>
                  <a:srgbClr val="A9B4CE"/>
                </a:solidFill>
              </a:rPr>
              <a:t>NVIDIA RTX 4060 Laptop GPU with Keras PyTorch backend.</a:t>
            </a:r>
          </a:p>
        </p:txBody>
      </p:sp>
      <p:pic>
        <p:nvPicPr>
          <p:cNvPr id="8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750000" y="-7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Bottom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00000" y="45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Dataset &amp; Class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4 / 19</a:t>
            </a:r>
          </a:p>
        </p:txBody>
      </p:sp>
      <p:pic>
        <p:nvPicPr>
          <p:cNvPr id="7" name="Picture 6" descr="img_c0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777873"/>
            <a:ext cx="5943600" cy="2033773"/>
          </a:xfrm>
          <a:prstGeom prst="rect">
            <a:avLst/>
          </a:prstGeom>
          <a:ln w="19050">
            <a:solidFill>
              <a:srgbClr val="2EE6D6"/>
            </a:solidFill>
          </a:ln>
          <a:effectLst>
            <a:outerShdw blurRad="140000" dist="40000" dir="5400000" rotWithShape="0">
              <a:srgbClr val="000000">
                <a:alpha val="55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48640" y="13258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Total Images:  </a:t>
            </a:r>
            <a:r>
              <a:rPr sz="1700">
                <a:solidFill>
                  <a:srgbClr val="A9B4CE"/>
                </a:solidFill>
              </a:rPr>
              <a:t>3,264 indexed MRI scans.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Classes:  </a:t>
            </a:r>
            <a:r>
              <a:rPr sz="1700">
                <a:solidFill>
                  <a:srgbClr val="A9B4CE"/>
                </a:solidFill>
              </a:rPr>
              <a:t>Glioma (926), Meningioma (937), No Tumor (500), Pituitary (901).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Imbalance:  </a:t>
            </a:r>
            <a:r>
              <a:rPr sz="1700">
                <a:solidFill>
                  <a:srgbClr val="A9B4CE"/>
                </a:solidFill>
              </a:rPr>
              <a:t>No Tumor is under-represented; balanced class weights applied.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Source:  </a:t>
            </a:r>
            <a:r>
              <a:rPr sz="1700">
                <a:solidFill>
                  <a:srgbClr val="A9B4CE"/>
                </a:solidFill>
              </a:rPr>
              <a:t>Combined Training &amp; Testing folders into unified DataFrame.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900000" y="39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Top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750000" y="-7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Sample MRI Scans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5 / 19</a:t>
            </a:r>
          </a:p>
        </p:txBody>
      </p:sp>
      <p:pic>
        <p:nvPicPr>
          <p:cNvPr id="7" name="Picture 6" descr="img_c0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075" y="1280160"/>
            <a:ext cx="4901369" cy="5029200"/>
          </a:xfrm>
          <a:prstGeom prst="rect">
            <a:avLst/>
          </a:prstGeom>
          <a:ln w="19050">
            <a:solidFill>
              <a:srgbClr val="2EE6D6"/>
            </a:solidFill>
          </a:ln>
          <a:effectLst>
            <a:outerShdw blurRad="140000" dist="40000" dir="5400000" rotWithShape="0">
              <a:srgbClr val="000000">
                <a:alpha val="55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9B4CE"/>
                </a:solidFill>
                <a:latin typeface="Calibri"/>
              </a:rPr>
              <a:t>Representative scans for each class with native resolution preserved.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750000" y="-7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Bottom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00000" y="45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Stratified Data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6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583680" cy="2377440"/>
          </a:xfrm>
          <a:prstGeom prst="roundRect">
            <a:avLst>
              <a:gd name="adj" fmla="val 4000"/>
            </a:avLst>
          </a:prstGeom>
          <a:solidFill>
            <a:srgbClr val="10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ctr"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# 70 / 15 / 15 stratified split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train_df, temp_df = train_test_split(df, test_size=0.30,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    random_state=SEED, stratify=df['label_idx'])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val_df, test_df = train_test_split(temp_df, test_size=0.50,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    random_state=SEED, stratify=temp_df['label_idx'])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print(f"Train: {len(train_df)} ({len(train_df)/len(df)*100:.1f}%)")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print(f"Val:   {len(val_df)} ({len(val_df)/len(df)*100:.1f}%)")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print(f"Test:  {len(test_df)} ({len(test_df)/len(df)*100:.1f}%)")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Stratify:  </a:t>
            </a:r>
            <a:r>
              <a:rPr sz="1700">
                <a:solidFill>
                  <a:srgbClr val="A9B4CE"/>
                </a:solidFill>
              </a:rPr>
              <a:t>Preserves class ratios across Train / Val / Test.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Reproducibility:  </a:t>
            </a:r>
            <a:r>
              <a:rPr sz="1700">
                <a:solidFill>
                  <a:srgbClr val="A9B4CE"/>
                </a:solidFill>
              </a:rPr>
              <a:t>Fixed random seed (42) for deterministic splits.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Validation:  </a:t>
            </a:r>
            <a:r>
              <a:rPr sz="1700">
                <a:solidFill>
                  <a:srgbClr val="A9B4CE"/>
                </a:solidFill>
              </a:rPr>
              <a:t>Used for early stopping and hyper-parameter tuning.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900000" y="39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Top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750000" y="-7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Input Pipeline &amp; Augmentation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7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583680" cy="2194560"/>
          </a:xfrm>
          <a:prstGeom prst="roundRect">
            <a:avLst>
              <a:gd name="adj" fmla="val 4000"/>
            </a:avLst>
          </a:prstGeom>
          <a:solidFill>
            <a:srgbClr val="10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ctr"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def medical_augment(image, label):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    image = tf.image.random_flip_left_right(image, seed=SEED)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    crop_size = int(IMAGE_SIZE[0] * 0.95)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    image = tf.image.random_crop(image, size=[crop_size, crop_size, 3], seed=SEED)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    image = tf.image.resize(image, IMAGE_SIZE)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    image = tf.image.random_brightness(image, max_delta=0.03, seed=SEED)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    image = tf.clip_by_value(image, 0.0, 1.0)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CFF"/>
                </a:solidFill>
                <a:latin typeface="Consolas"/>
              </a:rPr>
              <a:t>    return image, 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Resize:  </a:t>
            </a:r>
            <a:r>
              <a:rPr sz="1700">
                <a:solidFill>
                  <a:srgbClr val="A9B4CE"/>
                </a:solidFill>
              </a:rPr>
              <a:t>All images normalized to 224×224.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Anatomically Safe:  </a:t>
            </a:r>
            <a:r>
              <a:rPr sz="1700">
                <a:solidFill>
                  <a:srgbClr val="A9B4CE"/>
                </a:solidFill>
              </a:rPr>
              <a:t>Only horizontal flips &amp; mild brightness shifts.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Normalization:  </a:t>
            </a:r>
            <a:r>
              <a:rPr sz="1700">
                <a:solidFill>
                  <a:srgbClr val="A9B4CE"/>
                </a:solidFill>
              </a:rPr>
              <a:t>Pixel values scaled to [0, 1].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tf.data:  </a:t>
            </a:r>
            <a:r>
              <a:rPr sz="1700">
                <a:solidFill>
                  <a:srgbClr val="A9B4CE"/>
                </a:solidFill>
              </a:rPr>
              <a:t>Efficient streaming pipeline with prefetch &amp; caching.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750000" y="-7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Bottom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00000" y="45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Custom CNN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8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583680" cy="2926080"/>
          </a:xfrm>
          <a:prstGeom prst="roundRect">
            <a:avLst>
              <a:gd name="adj" fmla="val 4000"/>
            </a:avLst>
          </a:prstGeom>
          <a:solidFill>
            <a:srgbClr val="10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ctr"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def build_custom_cnn(input_shape=(224, 224, 3), num_classes=4):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inputs = layers.Input(shape=input_shape)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layers.Conv2D(32, 3, padding='same', activation='relu')(inputs)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layers.MaxPooling2D(2)(x)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layers.Conv2D(64, 3, padding='same', activation='relu')(x)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layers.MaxPooling2D(2)(x)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layers.Conv2D(128, 3, padding='same', activation='relu')(x)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layers.MaxPooling2D(2)(x)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layers.Conv2D(256, 3, padding='same', activation='relu', name="conv4_last")(x)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layers.MaxPooling2D(2)(x)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layers.GlobalAveragePooling2D()(x)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x = layers.Dropout(0.4)(x)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outputs = layers.Dense(num_classes, activation='softmax')(x)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return models.Model(inputs, outputs)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Architecture:  </a:t>
            </a:r>
            <a:r>
              <a:rPr sz="1700">
                <a:solidFill>
                  <a:srgbClr val="A9B4CE"/>
                </a:solidFill>
              </a:rPr>
              <a:t>4 convolutional blocks + GAP + Dropout(0.4).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Parameters:  </a:t>
            </a:r>
            <a:r>
              <a:rPr sz="1700">
                <a:solidFill>
                  <a:srgbClr val="A9B4CE"/>
                </a:solidFill>
              </a:rPr>
              <a:t>Lightweight; fast inference on edge GPU.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Grad-CAM Hook:  </a:t>
            </a:r>
            <a:r>
              <a:rPr sz="1700">
                <a:solidFill>
                  <a:srgbClr val="A9B4CE"/>
                </a:solidFill>
              </a:rPr>
              <a:t>conv4_last layer used for attention maps.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900000" y="39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Top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750000" y="-7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Transfer Learning — MobileNetV2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9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583680" cy="2560320"/>
          </a:xfrm>
          <a:prstGeom prst="roundRect">
            <a:avLst>
              <a:gd name="adj" fmla="val 4000"/>
            </a:avLst>
          </a:prstGeom>
          <a:solidFill>
            <a:srgbClr val="10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ctr"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base_model = MobileNetV2(weights='imagenet', include_top=False,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                         input_shape=(224, 224, 3))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base_model.trainable = False</a:t>
            </a:r>
          </a:p>
          <a:p>
            <a:pPr>
              <a:lnSpc>
                <a:spcPct val="112000"/>
              </a:lnSpc>
            </a:pPr>
            <a:endParaRPr sz="1200">
              <a:solidFill>
                <a:srgbClr val="E3ECFF"/>
              </a:solidFill>
              <a:latin typeface="Consolas"/>
            </a:endParaRP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x = layers.Rescaling(scale=2.0, offset=-1.0)(inputs)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x = base_model(x, training=False)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x = layers.GlobalAveragePooling2D()(x)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x = layers.BatchNormalization()(x)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x = layers.Dense(128, activation='relu')(x)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x = layers.Dropout(0.3)(x)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outputs = layers.Dense(4, activation='softmax')(x)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Pre-trained:  </a:t>
            </a:r>
            <a:r>
              <a:rPr sz="1700">
                <a:solidFill>
                  <a:srgbClr val="A9B4CE"/>
                </a:solidFill>
              </a:rPr>
              <a:t>ImageNet weights as feature extractor.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Head:  </a:t>
            </a:r>
            <a:r>
              <a:rPr sz="1700">
                <a:solidFill>
                  <a:srgbClr val="A9B4CE"/>
                </a:solidFill>
              </a:rPr>
              <a:t>Custom dense head with BatchNorm &amp; Dropout(0.3).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Rescaling:  </a:t>
            </a:r>
            <a:r>
              <a:rPr sz="1700">
                <a:solidFill>
                  <a:srgbClr val="A9B4CE"/>
                </a:solidFill>
              </a:rPr>
              <a:t>Aligns input range to [-1, +1] for MobileNetV2.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750000" y="-7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Bottom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00000" y="45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Fine-Tuning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10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583680" cy="3050000"/>
          </a:xfrm>
          <a:prstGeom prst="roundRect">
            <a:avLst>
              <a:gd name="adj" fmla="val 4000"/>
            </a:avLst>
          </a:prstGeom>
          <a:solidFill>
            <a:srgbClr val="10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ctr"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base_mobilenet.trainable = True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fine_tune_at = len(base_mobilenet.layers) - 30</a:t>
            </a:r>
          </a:p>
          <a:p>
            <a:pPr>
              <a:lnSpc>
                <a:spcPct val="112000"/>
              </a:lnSpc>
            </a:pPr>
            <a:endParaRPr sz="1200">
              <a:solidFill>
                <a:srgbClr val="E3ECFF"/>
              </a:solidFill>
              <a:latin typeface="Consolas"/>
            </a:endParaRP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for layer in base_mobilenet.layers[:fine_tune_at]: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    layer.trainable = False</a:t>
            </a:r>
          </a:p>
          <a:p>
            <a:pPr>
              <a:lnSpc>
                <a:spcPct val="112000"/>
              </a:lnSpc>
            </a:pPr>
            <a:endParaRPr sz="1200">
              <a:solidFill>
                <a:srgbClr val="E3ECFF"/>
              </a:solidFill>
              <a:latin typeface="Consolas"/>
            </a:endParaRP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model_tl.compile(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    optimizer=optimizers.Adam(learning_rate=1e-5),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    loss='sparse_categorical_crossentropy',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    metrics=['accuracy'])</a:t>
            </a:r>
          </a:p>
          <a:p>
            <a:pPr>
              <a:lnSpc>
                <a:spcPct val="112000"/>
              </a:lnSpc>
            </a:pPr>
            <a:endParaRPr sz="1200">
              <a:solidFill>
                <a:srgbClr val="E3ECFF"/>
              </a:solidFill>
              <a:latin typeface="Consolas"/>
            </a:endParaRP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history_tl_phase2 = model_tl.fit(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    train_ds, validation_data=val_ds,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    epochs=8, callbacks=callbacks_tl,</a:t>
            </a:r>
          </a:p>
          <a:p>
            <a:pPr>
              <a:lnSpc>
                <a:spcPct val="112000"/>
              </a:lnSpc>
            </a:pPr>
            <a:r>
              <a:rPr sz="1200">
                <a:solidFill>
                  <a:srgbClr val="E3ECFF"/>
                </a:solidFill>
                <a:latin typeface="Consolas"/>
              </a:rPr>
              <a:t>    class_weight=class_weights_dict)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00000"/>
            <a:ext cx="1078992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Strategy:  </a:t>
            </a:r>
            <a:r>
              <a:rPr sz="1700">
                <a:solidFill>
                  <a:srgbClr val="A9B4CE"/>
                </a:solidFill>
              </a:rPr>
              <a:t>Unfreeze top 30 layers; freeze lower feature layers.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LR:  </a:t>
            </a:r>
            <a:r>
              <a:rPr sz="1700">
                <a:solidFill>
                  <a:srgbClr val="A9B4CE"/>
                </a:solidFill>
              </a:rPr>
              <a:t>Low learning rate (1e-5) to avoid catastrophic forgetting.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Class Weights:  </a:t>
            </a:r>
            <a:r>
              <a:rPr sz="1700">
                <a:solidFill>
                  <a:srgbClr val="A9B4CE"/>
                </a:solidFill>
              </a:rPr>
              <a:t>Mitigates imbalance during fine-tuning.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900000" y="39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Top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750000" y="-7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Training History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11 / 19</a:t>
            </a:r>
          </a:p>
        </p:txBody>
      </p:sp>
      <p:pic>
        <p:nvPicPr>
          <p:cNvPr id="7" name="Picture 6" descr="img_c2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75472"/>
            <a:ext cx="11064240" cy="3638575"/>
          </a:xfrm>
          <a:prstGeom prst="rect">
            <a:avLst/>
          </a:prstGeom>
          <a:ln w="19050">
            <a:solidFill>
              <a:srgbClr val="2EE6D6"/>
            </a:solidFill>
          </a:ln>
          <a:effectLst>
            <a:outerShdw blurRad="140000" dist="40000" dir="5400000" rotWithShape="0">
              <a:srgbClr val="000000">
                <a:alpha val="55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9B4CE"/>
                </a:solidFill>
                <a:latin typeface="Calibri"/>
              </a:rPr>
              <a:t>Left: Custom CNN | Right: MobileNetV2 Transfer Learning — Accuracy &amp; Loss curves.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11440000" y="4950000"/>
            <a:ext cx="650000" cy="866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750000" y="-7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Bottom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00000" y="45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Model Size &amp; Inference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12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0" y="1920240"/>
          <a:ext cx="8869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Disk Size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Avg Inference Time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2545"/>
                          </a:solidFill>
                          <a:latin typeface="Calibri"/>
                        </a:rPr>
                        <a:t>Custom CNN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B2545"/>
                          </a:solidFill>
                          <a:latin typeface="Calibri"/>
                        </a:rPr>
                        <a:t>78.01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B2545"/>
                          </a:solidFill>
                          <a:latin typeface="Calibri"/>
                        </a:rPr>
                        <a:t>3.17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2545"/>
                          </a:solidFill>
                          <a:latin typeface="Calibri"/>
                        </a:rPr>
                        <a:t>MobileNetV2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B2545"/>
                          </a:solidFill>
                          <a:latin typeface="Calibri"/>
                        </a:rPr>
                        <a:t>22.78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B2545"/>
                          </a:solidFill>
                          <a:latin typeface="Calibri"/>
                        </a:rPr>
                        <a:t>44.65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A9B4CE"/>
                </a:solidFill>
                <a:latin typeface="Calibri"/>
              </a:rPr>
              <a:t>MobileNetV2 is 3.4× smaller but slower due to depthwise-separable convolutions on GPU.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900000" y="39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Top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750000" y="-7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Clinical Evaluation — Classification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13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73736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Custom CNN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MobileNetV2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2545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B2545"/>
                          </a:solidFill>
                          <a:latin typeface="Calibri"/>
                        </a:rPr>
                        <a:t>67.35%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B2545"/>
                          </a:solidFill>
                          <a:latin typeface="Calibri"/>
                        </a:rPr>
                        <a:t>83.88%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77D4F"/>
                          </a:solidFill>
                          <a:latin typeface="Calibri"/>
                        </a:rPr>
                        <a:t>+16.53%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2545"/>
                          </a:solidFill>
                          <a:latin typeface="Calibri"/>
                        </a:rPr>
                        <a:t>Macro 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B2545"/>
                          </a:solidFill>
                          <a:latin typeface="Calibri"/>
                        </a:rPr>
                        <a:t>67.35%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0B2545"/>
                          </a:solidFill>
                          <a:latin typeface="Calibri"/>
                        </a:rPr>
                        <a:t>83.88%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77D4F"/>
                          </a:solidFill>
                          <a:latin typeface="Calibri"/>
                        </a:rPr>
                        <a:t>+16.53%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A9B4CE"/>
                </a:solidFill>
                <a:latin typeface="Calibri"/>
              </a:rPr>
              <a:t>Fine-tuned MobileNetV2 shows a strong clinical gain in both accuracy and recall.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750000" y="-7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Bottom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00000" y="45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Confusion Matrix &amp; Error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14 / 19</a:t>
            </a:r>
          </a:p>
        </p:txBody>
      </p:sp>
      <p:pic>
        <p:nvPicPr>
          <p:cNvPr id="7" name="Picture 6" descr="img_c28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31709"/>
            <a:ext cx="11064240" cy="3726101"/>
          </a:xfrm>
          <a:prstGeom prst="rect">
            <a:avLst/>
          </a:prstGeom>
          <a:ln w="19050">
            <a:solidFill>
              <a:srgbClr val="2EE6D6"/>
            </a:solidFill>
          </a:ln>
          <a:effectLst>
            <a:outerShdw blurRad="140000" dist="40000" dir="5400000" rotWithShape="0">
              <a:srgbClr val="000000">
                <a:alpha val="55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9B4CE"/>
                </a:solidFill>
                <a:latin typeface="Calibri"/>
              </a:rPr>
              <a:t>Left: Custom CNN | Right: MobileNetV2 — Reduced misclassifications across all tumor classes.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11440000" y="4950000"/>
            <a:ext cx="650000" cy="866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900000" y="39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Top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750000" y="-7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Benchmarking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Best Model:  </a:t>
            </a:r>
            <a:r>
              <a:rPr sz="1700">
                <a:solidFill>
                  <a:srgbClr val="A9B4CE"/>
                </a:solidFill>
              </a:rPr>
              <a:t>Fine-tuned MobileNetV2 (83.88% accuracy).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Key Win:  </a:t>
            </a:r>
            <a:r>
              <a:rPr sz="1700">
                <a:solidFill>
                  <a:srgbClr val="A9B4CE"/>
                </a:solidFill>
              </a:rPr>
              <a:t>+16.53% absolute improvement over custom CNN.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False Negatives:  </a:t>
            </a:r>
            <a:r>
              <a:rPr sz="1700">
                <a:solidFill>
                  <a:srgbClr val="A9B4CE"/>
                </a:solidFill>
              </a:rPr>
              <a:t>Critical metric for diagnosis; MobileNetV2 reduces FN rate significantly.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Deployment:  </a:t>
            </a:r>
            <a:r>
              <a:rPr sz="1700">
                <a:solidFill>
                  <a:srgbClr val="A9B4CE"/>
                </a:solidFill>
              </a:rPr>
              <a:t>22.78 MB model fits edge/mobile constraints.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Trade-off:  </a:t>
            </a:r>
            <a:r>
              <a:rPr sz="1700">
                <a:solidFill>
                  <a:srgbClr val="A9B4CE"/>
                </a:solidFill>
              </a:rPr>
              <a:t>Slightly higher latency (44.65 ms) acceptable for clinical batch processing.</a:t>
            </a:r>
          </a:p>
        </p:txBody>
      </p:sp>
      <p:pic>
        <p:nvPicPr>
          <p:cNvPr id="8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750000" y="-7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Bottom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00000" y="45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Grad-CAM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16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583680" cy="2743200"/>
          </a:xfrm>
          <a:prstGeom prst="roundRect">
            <a:avLst>
              <a:gd name="adj" fmla="val 4000"/>
            </a:avLst>
          </a:prstGeom>
          <a:solidFill>
            <a:srgbClr val="10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ctr"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def make_gradcam_heatmap(img_array, model, last_conv_layer_name):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grad_model = models.Model(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    inputs=model.input,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    outputs=[model.get_layer(last_conv_layer_name).output,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             model.output])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conv_out, preds = grad_model(img_tensor)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class_score = preds[0, pred_index]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grads = torch.autograd.grad(class_score, conv_out)[0]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pooled_grads = torch.mean(grads, dim=(0, 1, 2))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heatmap = conv_out[0] @ pooled_grads.unsqueeze(-1)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heatmap = torch.relu(heatmap)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heatmap = heatmap / (torch.max(heatmap) + 1e-10)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3ECFF"/>
                </a:solidFill>
                <a:latin typeface="Consolas"/>
              </a:rPr>
              <a:t>    return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Purpose:  </a:t>
            </a:r>
            <a:r>
              <a:rPr sz="1700">
                <a:solidFill>
                  <a:srgbClr val="A9B4CE"/>
                </a:solidFill>
              </a:rPr>
              <a:t>Visualize where the model looks in the MRI.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Method:  </a:t>
            </a:r>
            <a:r>
              <a:rPr sz="1700">
                <a:solidFill>
                  <a:srgbClr val="A9B4CE"/>
                </a:solidFill>
              </a:rPr>
              <a:t>Gradient-weighted class activation mapping on last conv layer.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Overlay:  </a:t>
            </a:r>
            <a:r>
              <a:rPr sz="1700">
                <a:solidFill>
                  <a:srgbClr val="A9B4CE"/>
                </a:solidFill>
              </a:rPr>
              <a:t>Heatmap superimposed on original scan for radiologist review.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900000" y="39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Top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750000" y="-7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Grad-CAM Lesion Localization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17 / 19</a:t>
            </a:r>
          </a:p>
        </p:txBody>
      </p:sp>
      <p:pic>
        <p:nvPicPr>
          <p:cNvPr id="7" name="Picture 6" descr="img_c34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114" y="1280160"/>
            <a:ext cx="4005291" cy="5029200"/>
          </a:xfrm>
          <a:prstGeom prst="rect">
            <a:avLst/>
          </a:prstGeom>
          <a:ln w="19050">
            <a:solidFill>
              <a:srgbClr val="2EE6D6"/>
            </a:solidFill>
          </a:ln>
          <a:effectLst>
            <a:outerShdw blurRad="140000" dist="40000" dir="5400000" rotWithShape="0">
              <a:srgbClr val="000000">
                <a:alpha val="55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9B4CE"/>
                </a:solidFill>
                <a:latin typeface="Calibri"/>
              </a:rPr>
              <a:t>Heatmaps align with actual tumor regions, validating model decisions for clinical trust.</a:t>
            </a:r>
          </a:p>
        </p:txBody>
      </p:sp>
      <p:pic>
        <p:nvPicPr>
          <p:cNvPr id="9" name="AI Chip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Decorative Constellation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750000" y="-700000"/>
            <a:ext cx="4400000" cy="4400000"/>
          </a:xfrm>
          <a:prstGeom prst="rect">
            <a:avLst/>
          </a:prstGeom>
        </p:spPr>
      </p:pic>
      <p:pic>
        <p:nvPicPr>
          <p:cNvPr id="95" name="Decorative Constellation Bottom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00000" y="4500000"/>
            <a:ext cx="3600000" cy="3600000"/>
          </a:xfrm>
          <a:prstGeom prst="rect">
            <a:avLst/>
          </a:prstGeom>
        </p:spPr>
      </p:pic>
      <p:pic>
        <p:nvPicPr>
          <p:cNvPr id="96" name="Decorative Constellation Accent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9100000" y="-700000"/>
            <a:ext cx="3800000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Conclusion &amp; Clinical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Accuracy:  </a:t>
            </a:r>
            <a:r>
              <a:rPr sz="1700">
                <a:solidFill>
                  <a:srgbClr val="A9B4CE"/>
                </a:solidFill>
              </a:rPr>
              <a:t>MobileNetV2 fine-tuning reached 83.88% on 4-class brain tumor classification.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Efficiency:  </a:t>
            </a:r>
            <a:r>
              <a:rPr sz="1700">
                <a:solidFill>
                  <a:srgbClr val="A9B4CE"/>
                </a:solidFill>
              </a:rPr>
              <a:t>22.78 MB footprint enables deployment on clinical workstations &amp; edge devices.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Trust:  </a:t>
            </a:r>
            <a:r>
              <a:rPr sz="1700">
                <a:solidFill>
                  <a:srgbClr val="A9B4CE"/>
                </a:solidFill>
              </a:rPr>
              <a:t>Grad-CAM provides transparent, interpretable predictions for radiologists.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EE6D6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</a:rPr>
              <a:t>Next Steps:  </a:t>
            </a:r>
            <a:r>
              <a:rPr sz="1700">
                <a:solidFill>
                  <a:srgbClr val="A9B4CE"/>
                </a:solidFill>
              </a:rPr>
              <a:t>3D volumetric models, multi-sequence MRI fusion, and real-time inference APIs.</a:t>
            </a:r>
          </a:p>
        </p:txBody>
      </p:sp>
      <p:pic>
        <p:nvPicPr>
          <p:cNvPr id="8" name="AI Chip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6000" y="228600"/>
            <a:ext cx="411480" cy="411480"/>
          </a:xfrm>
          <a:prstGeom prst="rect">
            <a:avLst/>
          </a:prstGeom>
        </p:spPr>
      </p:pic>
      <p:pic>
        <p:nvPicPr>
          <p:cNvPr id="91" name="Robot Mascot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1120000" y="4950000"/>
            <a:ext cx="975000" cy="13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2EE6D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518" y="504360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endParaRPr sz="16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9B4CE"/>
                </a:solidFill>
                <a:latin typeface="Calibri"/>
              </a:rPr>
              <a:t>19 / 19</a:t>
            </a:r>
          </a:p>
        </p:txBody>
      </p:sp>
      <p:pic>
        <p:nvPicPr>
          <p:cNvPr id="9" name="Neural Network Graphic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700000" y="1300000"/>
            <a:ext cx="5800000" cy="5800000"/>
          </a:xfrm>
          <a:prstGeom prst="rect">
            <a:avLst/>
          </a:prstGeom>
        </p:spPr>
      </p:pic>
      <p:pic>
        <p:nvPicPr>
          <p:cNvPr id="95" name="Decorative Constellation Accent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9100000" y="-700000"/>
            <a:ext cx="3700000" cy="3700000"/>
          </a:xfrm>
          <a:prstGeom prst="rect">
            <a:avLst/>
          </a:prstGeom>
        </p:spPr>
      </p:pic>
      <p:pic>
        <p:nvPicPr>
          <p:cNvPr id="10" name="AI Brain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292608"/>
            <a:ext cx="548640" cy="548640"/>
          </a:xfrm>
          <a:prstGeom prst="rect">
            <a:avLst/>
          </a:prstGeom>
        </p:spPr>
      </p:pic>
      <p:pic>
        <p:nvPicPr>
          <p:cNvPr id="92" name="Big Waving Rob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000" y="900000"/>
            <a:ext cx="4044000" cy="52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1764</Words>
  <Application>Microsoft Office PowerPoint</Application>
  <PresentationFormat>شاشة عريضة</PresentationFormat>
  <Paragraphs>183</Paragraphs>
  <Slides>19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/>
  <cp:keywords/>
  <dc:description>generated using python-pptx</dc:description>
  <cp:lastModifiedBy>mahmoud khaled</cp:lastModifiedBy>
  <cp:revision>5</cp:revision>
  <dcterms:created xsi:type="dcterms:W3CDTF">2013-01-27T09:14:16Z</dcterms:created>
  <dcterms:modified xsi:type="dcterms:W3CDTF">2026-09-27T21:27:43Z</dcterms:modified>
  <cp:category/>
</cp:coreProperties>
</file>